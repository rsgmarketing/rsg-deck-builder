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9498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B7CCC"/>
                </a:solidFill>
                <a:latin typeface="Trade Gothic Next"/>
              </a:rPr>
              <a:t>INTERNAL PLANNING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600" b="1">
                <a:solidFill>
                  <a:srgbClr val="FFFFFF"/>
                </a:solidFill>
                <a:latin typeface="Teko"/>
              </a:rPr>
              <a:t>Fast-Trak Product Line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D6EEFF"/>
                </a:solidFill>
                <a:latin typeface="Trade Gothic Next"/>
              </a:rPr>
              <a:t>An Internal Planning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1828800" cy="254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AA8C8"/>
                </a:solidFill>
                <a:latin typeface="Trade Gothic Next"/>
              </a:rPr>
              <a:t>This document asks the questions we need to answer
before committing to a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A7898"/>
                </a:solidFill>
                <a:latin typeface="Trade Gothic Next"/>
              </a:rPr>
              <a:t>CONFIDENTIAL  |  February 2026  | 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How to Use This Document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2C3E50"/>
                </a:solidFill>
                <a:latin typeface="Trade Gothic Next"/>
              </a:rPr>
              <a:t>This deck is structured around questions, not conclusions. Each section presents a hypothesis and then asks the questions needed to validate or invalidate it. Every question has an owner and a response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RESPONSE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188720" cy="2286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92608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Requires pulling order data, financial records, or system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1188720" cy="22860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107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7A4A"/>
                </a:solidFill>
                <a:latin typeface="Trade Gothic Next"/>
              </a:rPr>
              <a:t>YES /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290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A direct operational or feasibility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188720" cy="22860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1363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7A4A"/>
                </a:solidFill>
                <a:latin typeface="Trade Gothic Next"/>
              </a:rPr>
              <a:t>SALES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319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Requires qualitative input from customer-facing teams.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1188720" cy="2286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02857"/>
                </a:solidFill>
                <a:latin typeface="Trade Gothic Next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348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Requires a strategic call from leadership.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QUESTION OWNERS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926080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916936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310128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300984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694176"/>
            <a:ext cx="905256" cy="182880"/>
          </a:xfrm>
          <a:prstGeom prst="rect">
            <a:avLst/>
          </a:prstGeom>
          <a:solidFill>
            <a:srgbClr val="F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3685032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6C3D91"/>
                </a:solidFill>
                <a:latin typeface="Trade Gothic Next"/>
              </a:rPr>
              <a:t>FINANCE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078224"/>
            <a:ext cx="905256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069080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PRODUCT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462272"/>
            <a:ext cx="1234439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453128"/>
            <a:ext cx="11429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846320"/>
            <a:ext cx="1124712" cy="18288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4837176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D4780A"/>
                </a:solidFill>
                <a:latin typeface="Trade Gothic Next"/>
              </a:rPr>
              <a:t>ECOMMERCE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230368"/>
            <a:ext cx="1124712" cy="182880"/>
          </a:xfrm>
          <a:prstGeom prst="rect">
            <a:avLst/>
          </a:prstGeom>
          <a:solidFill>
            <a:srgbClr val="FD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5221224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B03060"/>
                </a:solidFill>
                <a:latin typeface="Trade Gothic Next"/>
              </a:rPr>
              <a:t>MARKETING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2857"/>
                </a:solidFill>
                <a:latin typeface="Trade Gothic Next"/>
              </a:rPr>
              <a:t>GOAL: Answer 43 questions across 8 domains. Two paths to ~2-week ship. Build consensus through data and direct answers, not top-down recommendations.</a:t>
            </a:r>
          </a:p>
        </p:txBody>
      </p:sp>
      <p:pic>
        <p:nvPicPr>
          <p:cNvPr id="35" name="Picture 34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The Current State: An Identity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1A7A4A"/>
                </a:solidFill>
                <a:latin typeface="Trade Gothic Next"/>
              </a:rPr>
              <a:t>KOLD LOCKER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74520"/>
            <a:ext cx="457200" cy="320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828800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A7A4A"/>
                </a:solidFill>
                <a:latin typeface="Teko"/>
              </a:rPr>
              <a:t>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C0392B"/>
                </a:solidFill>
                <a:latin typeface="Trade Gothic Next"/>
              </a:rPr>
              <a:t>FAST-TRAK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514600"/>
            <a:ext cx="73152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9" y="2468880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0392B"/>
                </a:solidFill>
                <a:latin typeface="Teko"/>
              </a:rPr>
              <a:t>4–10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E05040"/>
                </a:solidFill>
                <a:latin typeface="Trade Gothic Next"/>
              </a:rPr>
              <a:t>FINELINE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154680"/>
            <a:ext cx="7315200" cy="320040"/>
          </a:xfrm>
          <a:prstGeom prst="rect">
            <a:avLst/>
          </a:prstGeom>
          <a:solidFill>
            <a:srgbClr val="E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9" y="3108960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E05040"/>
                </a:solidFill>
                <a:latin typeface="Teko"/>
              </a:rPr>
              <a:t>4–10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66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C0392B"/>
                </a:solidFill>
                <a:latin typeface="Trade Gothic Next"/>
              </a:rPr>
              <a:t>↑ IDENTICAL LEAD TIMES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3200400" cy="118872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C0392B"/>
                </a:solidFill>
                <a:latin typeface="Teko"/>
              </a:rPr>
              <a:t>~2%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The price gap between Fast-Trak and
Fineline. Confusing, not invisible.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06240"/>
            <a:ext cx="3200400" cy="118872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0392B"/>
                </a:solidFill>
                <a:latin typeface="Teko"/>
              </a:rPr>
              <a:t>“Fast” Is in the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006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But the product isn’t fast. It ships at
the same factory lead time as custom.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206240"/>
            <a:ext cx="3200400" cy="118872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434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0392B"/>
                </a:solidFill>
                <a:latin typeface="Teko"/>
              </a:rPr>
              <a:t>1-ft Increments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Factory stocks 2-ft panels. Not leverageable
for stock speed. Process speed possible?</a:t>
            </a:r>
          </a:p>
        </p:txBody>
      </p:sp>
      <p:pic>
        <p:nvPicPr>
          <p:cNvPr id="23" name="Picture 22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The Price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Price sensitivity varies dramatically by job type and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846320" cy="2011680"/>
          </a:xfrm>
          <a:prstGeom prst="rect">
            <a:avLst/>
          </a:prstGeom>
          <a:solidFill>
            <a:srgbClr val="EDF7F1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7A4A"/>
                </a:solidFill>
                <a:latin typeface="Trade Gothic Next"/>
              </a:rPr>
              <a:t>NEW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4805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  <a:latin typeface="Trade Gothic Next"/>
              </a:rPr>
              <a:t>Walk-in is a fraction of total project cost. Schedule and lead time often matter more than a 5-10% delta. Architect/GC drives the spec. Buyers have more flexibility on price.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28800"/>
            <a:ext cx="5303520" cy="2011680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0392B"/>
                </a:solidFill>
                <a:latin typeface="Trade Gothic Next"/>
              </a:rPr>
              <a:t>REPLACEMENT / RETROFIT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94560"/>
            <a:ext cx="493776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  <a:latin typeface="Trade Gothic Next"/>
              </a:rPr>
              <a:t>Operator is paying directly. Every dollar matters. Downtime = lost revenue. Speed AND price both critical. These buyers shop aggressively and compare line-by-line.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D4780A"/>
                </a:solidFill>
                <a:latin typeface="Trade Gothic Next"/>
              </a:rPr>
              <a:t>ECOMMERCE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  <a:latin typeface="Trade Gothic Next"/>
              </a:rPr>
              <a:t>Ecommerce buyers key hard on pricing. Walk-ins are perceived as commodities in this channel, even if that’s not our positioning. Price visibility is total — buyers compare across brands in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FFFF"/>
                </a:solidFill>
                <a:latin typeface="Trade Gothic Next"/>
              </a:rPr>
              <a:t>The ~2% FT-to-Fineline gap isn’t just “invisible” — it’s actively confusing. If the products are priced the same and ship the same, what is the buyer paying for? This is a credibility problem, not just a marketing problem.</a:t>
            </a:r>
          </a:p>
        </p:txBody>
      </p:sp>
      <p:pic>
        <p:nvPicPr>
          <p:cNvPr id="16" name="Picture 15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Do We Have a Real Problem?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Before fixing Fast-Trak, confirm the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299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% of FT orders could have been built as Fineline with no configuration change?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57400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48256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7121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How often do dealers ask "what's the difference between FT and Fineline?"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926080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916936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6732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73989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Have we lost deals because FT lead time matched Fineline — i.e., buyer went to a faster competitor?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794760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785616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34839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36007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608575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17719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the current volume split (units + revenue) across KL / FT / Fineline?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663439"/>
            <a:ext cx="905256" cy="182880"/>
          </a:xfrm>
          <a:prstGeom prst="rect">
            <a:avLst/>
          </a:prstGeom>
          <a:solidFill>
            <a:srgbClr val="F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654295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6C3D91"/>
                </a:solidFill>
                <a:latin typeface="Trade Gothic Next"/>
              </a:rPr>
              <a:t>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4D7C"/>
                </a:solidFill>
                <a:latin typeface="Trade Gothic Next"/>
              </a:rPr>
              <a:t>If the answer to Q1 is &gt;50% and Q4 shows FT is a small fraction of revenue, the case for change is strong. If FT is a large revenue line with differentiated demand, the calculus shifts.</a:t>
            </a:r>
          </a:p>
        </p:txBody>
      </p:sp>
      <p:pic>
        <p:nvPicPr>
          <p:cNvPr id="30" name="Picture 29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Teko"/>
              </a:rPr>
              <a:t>Two Paths to ~2-Week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2377440"/>
          </a:xfrm>
          <a:prstGeom prst="rect">
            <a:avLst/>
          </a:prstGeom>
          <a:solidFill>
            <a:srgbClr val="1D2D42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7A4A"/>
                </a:solidFill>
                <a:latin typeface="Trade Gothic Next"/>
              </a:rPr>
              <a:t>PATH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7A4A"/>
                </a:solidFill>
                <a:latin typeface="Teko"/>
              </a:rPr>
              <a:t>Speed Through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CDDEE"/>
                </a:solidFill>
                <a:latin typeface="Trade Gothic Next"/>
              </a:rPr>
              <a:t>Same 2-ft stock panels as KL. Assembly-only workflow. Panels on shelf — just add options and assemble.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A8C8"/>
                </a:solidFill>
                <a:latin typeface="Trade Gothic Next"/>
              </a:rPr>
              <a:t>TRADE-OFF: Loses 1-ft sizing. FT grid = KL grid.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1A7A4A"/>
                </a:solidFill>
                <a:latin typeface="Trade Gothic Next"/>
              </a:rPr>
              <a:t>SPEED FROM: Panels on shelf + assembly scheduling.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120640" cy="2377440"/>
          </a:xfrm>
          <a:prstGeom prst="rect">
            <a:avLst/>
          </a:prstGeom>
          <a:solidFill>
            <a:srgbClr val="1D2D42"/>
          </a:solidFill>
          <a:ln w="12700">
            <a:solidFill>
              <a:srgbClr val="2B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B7CCC"/>
                </a:solidFill>
                <a:latin typeface="Trade Gothic Next"/>
              </a:rPr>
              <a:t>PATH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2B7CCC"/>
                </a:solidFill>
                <a:latin typeface="Teko"/>
              </a:rPr>
              <a:t>Speed Through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CDDEE"/>
                </a:solidFill>
                <a:latin typeface="Trade Gothic Next"/>
              </a:rPr>
              <a:t>Every FT config = pre-defined SKU with pre-engineered BOM. Zero engineering at order time. Panels built to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803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AA8C8"/>
                </a:solidFill>
                <a:latin typeface="Trade Gothic Next"/>
              </a:rPr>
              <a:t>TRADE-OFF: Panels built to order. Requires Ops 2-week commitment.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54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B7CCC"/>
                </a:solidFill>
                <a:latin typeface="Trade Gothic Next"/>
              </a:rPr>
              <a:t>SPEED FROM: No engineering/quoting + production optimization.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B7CCC"/>
                </a:solidFill>
                <a:latin typeface="Trade Gothic Next"/>
              </a:rPr>
              <a:t>PROPOSED LEAD TIME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FFFFFF"/>
                </a:solidFill>
                <a:latin typeface="Trade Gothic Next"/>
              </a:rPr>
              <a:t>KOLD LOCKER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572000"/>
            <a:ext cx="45720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526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7A4A"/>
                </a:solidFill>
                <a:latin typeface="Trade Gothic Next"/>
              </a:rPr>
              <a:t>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FFFFFF"/>
                </a:solidFill>
                <a:latin typeface="Trade Gothic Next"/>
              </a:rPr>
              <a:t>FAST-TRAK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5029200"/>
            <a:ext cx="228600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983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B7CCC"/>
                </a:solidFill>
                <a:latin typeface="Trade Gothic Next"/>
              </a:rPr>
              <a:t>~2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FFFFFF"/>
                </a:solidFill>
                <a:latin typeface="Trade Gothic Next"/>
              </a:rPr>
              <a:t>FINELINE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486400"/>
            <a:ext cx="7315200" cy="274320"/>
          </a:xfrm>
          <a:prstGeom prst="rect">
            <a:avLst/>
          </a:prstGeom>
          <a:solidFill>
            <a:srgbClr val="5A7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5440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5A7898"/>
                </a:solidFill>
                <a:latin typeface="Trade Gothic Next"/>
              </a:rPr>
              <a:t>4–10 weeks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solidFill>
            <a:srgbClr val="1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70448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CDDEE"/>
                </a:solidFill>
                <a:latin typeface="Trade Gothic Next"/>
              </a:rPr>
              <a:t>Pre-engineering is a prerequisite for both paths. The manufacturing model is proven — the question is which mechanism gets us back there.</a:t>
            </a:r>
          </a:p>
        </p:txBody>
      </p:sp>
      <p:pic>
        <p:nvPicPr>
          <p:cNvPr id="28" name="Picture 27" descr="slide1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943600"/>
            <a:ext cx="2743200" cy="7123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FFFF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Path A: Manufacturing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Can we build from stock 2-ft panels in 2 weeks?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84248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Can we assemble a FT unit from stock 2-ft panels + staged components in 10 business days?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39112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29968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16352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788920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98064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Could filler panels (small bridging panels) make odd-foot sizes buildable from stock without stocking full 1-ft panels?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843784"/>
            <a:ext cx="1344167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834640"/>
            <a:ext cx="1252727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4D7C"/>
                </a:solidFill>
                <a:latin typeface="Trade Gothic Next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21024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593592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02736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Do we have the plant capacity to build and stock filler panels if that approach is viable?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648456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639312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42816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42569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39826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0740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the assembly time delta between a standard KL unit and a combo/remote-refrig unit?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453128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443984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47488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2303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2029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212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Why was the original rapid-build model abandoned? What specifically would need to change to make it work again?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5257800"/>
            <a:ext cx="1234439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5248656"/>
            <a:ext cx="11429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7900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D4780A"/>
                </a:solidFill>
                <a:latin typeface="Trade Gothic Next"/>
              </a:rPr>
              <a:t>Q9 is the #1 feasibility input. If we don’t understand why it was abandoned, we risk repeating the same failure.</a:t>
            </a:r>
          </a:p>
        </p:txBody>
      </p:sp>
      <p:pic>
        <p:nvPicPr>
          <p:cNvPr id="37" name="Picture 36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Path A: Sizing &amp;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Can we serve FT demand from stock 2-ft panels?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84248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% of current FT orders are already in 2-ft increments (and could be built from stock panels)?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39112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29968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16352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788920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98064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% of FT orders use odd-foot sizes (5’, 7’, 9’, 11’)?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843784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834640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21024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593592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02736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For odd-foot FT orders, what price premium do they carry over the nearest 2-ft equivalent?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648456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639312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42816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42569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39826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0740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additional component inventory (refrigeration systems, combo hardware, female bottom rails) would need to be staged?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453128"/>
            <a:ext cx="1453895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443984"/>
            <a:ext cx="1362455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SUPPLY 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47488"/>
            <a:ext cx="10515600" cy="6858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2303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2029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212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the carrying cost of that incremental inventory?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5257800"/>
            <a:ext cx="905256" cy="182880"/>
          </a:xfrm>
          <a:prstGeom prst="rect">
            <a:avLst/>
          </a:prstGeom>
          <a:solidFill>
            <a:srgbClr val="F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5248656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6C3D91"/>
                </a:solidFill>
                <a:latin typeface="Trade Gothic Next"/>
              </a:rPr>
              <a:t>FINANCE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7900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A4A"/>
                </a:solidFill>
                <a:latin typeface="Trade Gothic Next"/>
              </a:rPr>
              <a:t>If Q10 shows &gt;80% of FT orders are already 2-ft, the case for a stock-panel FT program is very strong.</a:t>
            </a:r>
          </a:p>
        </p:txBody>
      </p:sp>
      <p:pic>
        <p:nvPicPr>
          <p:cNvPr id="37" name="Picture 36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Path B: SKU &amp; BOM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Can we pre-engineer every FT configuration as a known SKU?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299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How many distinct valid FT configurations exist today? What is the total SKU count?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57400"/>
            <a:ext cx="1828800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4825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ENGINEERING /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7121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Can we pre-engineer BOMs for all valid FT configs? What is the effort and timeline?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926080"/>
            <a:ext cx="1344167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916936"/>
            <a:ext cx="1252727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4D7C"/>
                </a:solidFill>
                <a:latin typeface="Trade Gothic Next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6732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73989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the current average engineering/quoting time per FT order?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794760"/>
            <a:ext cx="1234439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785616"/>
            <a:ext cx="11429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34839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36007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608575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17719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Can FT configs be reduced to a manageable set (&lt;500 SKUs) without losing significant demand?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663439"/>
            <a:ext cx="1828800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654295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PRODUCT /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4D7C"/>
                </a:solidFill>
                <a:latin typeface="Trade Gothic Next"/>
              </a:rPr>
              <a:t>If Q34 shows a manageable config count and Q35 confirms BOM pre-engineering is feasible, Path B is a real option. If SKU count is unmanageable, Path A may be the only viable route.</a:t>
            </a:r>
          </a:p>
        </p:txBody>
      </p:sp>
      <p:pic>
        <p:nvPicPr>
          <p:cNvPr id="31" name="Picture 30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Path B: Operations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Can Ops deliver a 2-week build for pre-configured SKUs?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299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025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With a pre-built BOM and zero engineering, what is the realistic production lead time today?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57400"/>
            <a:ext cx="1828800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4825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 / MFG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7121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process steps add time beyond panel production + assembly? Which can be shortened for pre-configured SKUs?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926080"/>
            <a:ext cx="1234439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916936"/>
            <a:ext cx="114299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6732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73989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490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Can dedicated production slots / priority queuing for pre-configured FT hit 2 weeks reliably? Volume threshold?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794760"/>
            <a:ext cx="1828800" cy="182880"/>
          </a:xfrm>
          <a:prstGeom prst="rect">
            <a:avLst/>
          </a:prstGeom>
          <a:solidFill>
            <a:srgbClr val="E6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78561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E7C7B"/>
                </a:solidFill>
                <a:latin typeface="Trade Gothic Next"/>
              </a:rPr>
              <a:t>OPERATIONS / MFG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34839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36007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608575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17719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components could be pre-staged even if panels are built to order? What is the staging cost?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663439"/>
            <a:ext cx="1828800" cy="182880"/>
          </a:xfrm>
          <a:prstGeom prst="rect">
            <a:avLst/>
          </a:prstGeom>
          <a:solidFill>
            <a:srgbClr val="F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654295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6C3D91"/>
                </a:solidFill>
                <a:latin typeface="Trade Gothic Next"/>
              </a:rPr>
              <a:t>SUPPLY CHAIN / FINANCE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D4780A"/>
                </a:solidFill>
                <a:latin typeface="Trade Gothic Next"/>
              </a:rPr>
              <a:t>Q38 is the anchor: if current production time (minus engineering) is already close to 2 weeks, Path B is viable with process optimization.</a:t>
            </a:r>
          </a:p>
        </p:txBody>
      </p:sp>
      <p:pic>
        <p:nvPicPr>
          <p:cNvPr id="31" name="Picture 30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Path A vs. Path B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Once both paths are assessed, the strategic question: which one (or both)?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9397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If both paths are feasible, which has lower total operational cost? (Inventory carrying for A vs. process investment for B.)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148840"/>
            <a:ext cx="1828800" cy="182880"/>
          </a:xfrm>
          <a:prstGeom prst="rect">
            <a:avLst/>
          </a:prstGeom>
          <a:solidFill>
            <a:srgbClr val="F3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13969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6C3D91"/>
                </a:solidFill>
                <a:latin typeface="Trade Gothic Next"/>
              </a:rPr>
              <a:t>FINANCE /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1868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19125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Could a hybrid work — stock 2-ft (Path A) for high-volume, pre-configured SKUs (Path B) for 1-ft/odd — to get both speed and flexibility?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246120"/>
            <a:ext cx="1828800" cy="18288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23697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02857"/>
                </a:solidFill>
                <a:latin typeface="Trade Gothic Next"/>
              </a:rPr>
              <a:t>STRATEGIC 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Trade Gothic Next"/>
              </a:rPr>
              <a:t>Path A is simpler but loses 1-ft sizing. Path B retains sizing but requires deeper operational commitment. A hybrid could offer the best of both — if the complexity is manageable.
This is the central strategic question after both paths are validated.</a:t>
            </a:r>
          </a:p>
        </p:txBody>
      </p:sp>
      <p:pic>
        <p:nvPicPr>
          <p:cNvPr id="19" name="Picture 18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What Must Stay in Fineline?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PROPOSED FINELINE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5029200" cy="2194560"/>
          </a:xfrm>
          <a:prstGeom prst="rect">
            <a:avLst/>
          </a:prstGeom>
          <a:solidFill>
            <a:srgbClr val="F0F1ED"/>
          </a:solidFill>
          <a:ln w="12700">
            <a:solidFill>
              <a:srgbClr val="002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Non-standard dimensions (not 2-ft increments) *Path A 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Glass doors or custom door styles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Custom finishes (beyond standard stucco)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Heavy-duty / structural floors (&gt;800 lb/sq ft)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Water-cooled refrigeration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3+ compartments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Non-rectangular shapes or angles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C3E50"/>
                </a:solidFill>
                <a:latin typeface="Trade Gothic Next"/>
              </a:rPr>
              <a:t>• 5” or 6” panel thickness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029200" cy="7772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847088"/>
            <a:ext cx="905256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38360" y="1837944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84832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Which options/features should ALWAYS push to Fineline regardless of speed goals?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761488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2752344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99232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Are there current FT options not on this list that cannot be rapid-shipped?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029200" cy="7772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1563624" cy="182880"/>
          </a:xfrm>
          <a:prstGeom prst="rect">
            <a:avLst/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3666744"/>
            <a:ext cx="147218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8B4513"/>
                </a:solidFill>
                <a:latin typeface="Trade Gothic Next"/>
              </a:rPr>
              <a:t>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13632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Are there Fineline options that COULD move to a rapid-ship model?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4D7C"/>
                </a:solidFill>
                <a:latin typeface="Trade Gothic Next"/>
              </a:rPr>
              <a:t>The goal: a crisp, defensible boundary. Everything above the line = Fineline. Everything below = potentially rapid-shippable.</a:t>
            </a:r>
          </a:p>
        </p:txBody>
      </p:sp>
      <p:pic>
        <p:nvPicPr>
          <p:cNvPr id="23" name="Picture 22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KL-to-FT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What triggers should push a Kold Locker order to Fast-Trak?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CURRENT KL → FT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822960" cy="2011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Trade Gothic Next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2857"/>
                </a:solidFill>
                <a:latin typeface="Trade Gothic Next"/>
              </a:rPr>
              <a:t>Remote Refrigeration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30552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CP Remote or Split-Pak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822960" cy="201168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63347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Trade Gothic Next"/>
              </a:rPr>
              <a:t>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3347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2857"/>
                </a:solidFill>
                <a:latin typeface="Trade Gothic Next"/>
              </a:rPr>
              <a:t>Combo / Dual Compartment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33472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Cooler-freezer combinations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822960" cy="201168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13639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Trade Gothic Next"/>
              </a:rPr>
              <a:t>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3639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2857"/>
                </a:solidFill>
                <a:latin typeface="Trade Gothic Next"/>
              </a:rPr>
              <a:t>Female Bottom 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36392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Required for certain installs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822960" cy="201168"/>
          </a:xfrm>
          <a:prstGeom prst="rect">
            <a:avLst/>
          </a:prstGeom>
          <a:solidFill>
            <a:srgbClr val="1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3931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Trade Gothic Next"/>
              </a:rPr>
              <a:t>SECONDARY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393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2857"/>
                </a:solidFill>
                <a:latin typeface="Trade Gothic Next"/>
              </a:rPr>
              <a:t>Additional Heights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39312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6’7”, 8’7”, 8’4” floorless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822960" cy="201168"/>
          </a:xfrm>
          <a:prstGeom prst="rect">
            <a:avLst/>
          </a:prstGeom>
          <a:solidFill>
            <a:srgbClr val="D47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42232"/>
            <a:ext cx="777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Trade Gothic Next"/>
              </a:rPr>
              <a:t>UNQUANTIFIED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14223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02857"/>
                </a:solidFill>
                <a:latin typeface="Trade Gothic Next"/>
              </a:rPr>
              <a:t>Odd-Foot Sizes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2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5’, 7’, 9’, 11’ widths/depths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828800"/>
            <a:ext cx="5303520" cy="9144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93852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956816"/>
            <a:ext cx="905256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947672"/>
            <a:ext cx="8138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19456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Are remote refrigeration, combos, and female bottom rail the right FT triggers? Are there others?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880360"/>
            <a:ext cx="5303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99008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3008376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999232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2461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Should 8’7” height go into KL (if demand warrants) or stay as an FT driver?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931920"/>
            <a:ext cx="5303520" cy="9144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041648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B7CCC"/>
                </a:solidFill>
                <a:latin typeface="Teko"/>
              </a:rPr>
              <a:t>Q20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4059936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4050792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29768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% of KL-to-FT escalations are ONLY because of odd-foot sizing vs. actual option needs?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Trade Gothic Next"/>
              </a:rPr>
              <a:t>Critical: Remote refrigeration and combos must stay OFF Kold Locker to preserve the FT tier boundary. This is a business decision, not a technical one.</a:t>
            </a:r>
          </a:p>
        </p:txBody>
      </p:sp>
      <p:pic>
        <p:nvPicPr>
          <p:cNvPr id="43" name="Picture 42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Pricing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Price matters more than we’ve been assuming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0392B"/>
                </a:solidFill>
                <a:latin typeface="Trade Gothic Next"/>
              </a:rPr>
              <a:t>Correction from v1: Price is NOT the least important factor. For replacement/retrofit jobs and ecommerce, price is often the #1 or #2 decision driver. Buyers treat walk-ins as commodities. The ~2% FT-to-Fineline gap is actively confusing because it suggests sameness.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182112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3154680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63824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For replacement/retrofit jobs, how price-sensitive are buyers compared to new construction?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3209544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3200400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67328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904488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13632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the ecommerce price elasticity — do we lose meaningful volume at a 5% premium? 10%?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959352"/>
            <a:ext cx="1124712" cy="18288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950208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D4780A"/>
                </a:solidFill>
                <a:latin typeface="Trade Gothic Next"/>
              </a:rPr>
              <a:t>ECOMMERCE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17136"/>
            <a:ext cx="10515600" cy="6400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68172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65429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Should FT command a speed premium over Fineline for comparable configs? (Expedited = premium in most industries.)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4709160"/>
            <a:ext cx="1828800" cy="18288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470001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02857"/>
                </a:solidFill>
                <a:latin typeface="Trade Gothic Next"/>
              </a:rPr>
              <a:t>STRATEGIC 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66944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43153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540410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1324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How do competitors price their quick-ship vs. custom tiers?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5458968"/>
            <a:ext cx="1828800" cy="182880"/>
          </a:xfrm>
          <a:prstGeom prst="rect">
            <a:avLst/>
          </a:prstGeom>
          <a:solidFill>
            <a:srgbClr val="F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5449824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C3E50"/>
                </a:solidFill>
                <a:latin typeface="Trade Gothic Next"/>
              </a:rPr>
              <a:t>COMPETITIVE INTEL</a:t>
            </a:r>
          </a:p>
        </p:txBody>
      </p:sp>
      <p:pic>
        <p:nvPicPr>
          <p:cNvPr id="31" name="Picture 30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Channel &amp; Ecommerce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Where the rubber meets the 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7772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4825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2082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2996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WebstaurantStore’s appetite for “Ships in 2 Weeks” Fast-Trak SKUs?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75688"/>
            <a:ext cx="1344167" cy="18288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066544"/>
            <a:ext cx="1252727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D4780A"/>
                </a:solidFill>
                <a:latin typeface="Trade Gothic Next"/>
              </a:rPr>
              <a:t>KEY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96265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93522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4436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FT configurations currently sell online, and at what premium over KL?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2990088"/>
            <a:ext cx="1124712" cy="1828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980944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B7CCC"/>
                </a:solidFill>
                <a:latin typeface="Trade Gothic Next"/>
              </a:rPr>
              <a:t>DATA 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0515600" cy="77724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87705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84962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5876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Would a guaranteed ship date increase FT ecommerce conversion rate?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904488"/>
            <a:ext cx="1124712" cy="18288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895344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D4780A"/>
                </a:solidFill>
                <a:latin typeface="Trade Gothic Next"/>
              </a:rPr>
              <a:t>ECOMMERCE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791456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764024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73168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How do large traditional dealers (non-ecommerce) view the FT vs. Fineline distinction today?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818888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809744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7A4A"/>
                </a:solidFill>
                <a:latin typeface="Trade Gothic Next"/>
              </a:rPr>
              <a:t>Remote refrigeration — the primary KL→FT driver — currently has no quick-ship path on ecommerce. A 2-week FT with remote refrig could be a significant ecommerce unlock.</a:t>
            </a:r>
          </a:p>
        </p:txBody>
      </p:sp>
      <p:pic>
        <p:nvPicPr>
          <p:cNvPr id="31" name="Picture 30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Teko"/>
              </a:rPr>
              <a:t>Should We Rename Fast-Trak?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DDEE"/>
                </a:solidFill>
                <a:latin typeface="Trade Gothic Next"/>
              </a:rPr>
              <a:t>The name “Fast-Trak” only works if the product is actually fast. That’s either a problem to fix or a name to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4846320" cy="2926080"/>
          </a:xfrm>
          <a:prstGeom prst="rect">
            <a:avLst/>
          </a:prstGeom>
          <a:solidFill>
            <a:srgbClr val="1D2D42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7A4A"/>
                </a:solidFill>
                <a:latin typeface="Trade Gothic Next"/>
              </a:rPr>
              <a:t>IF SPEED IS RESTORED (~2 WEEK SHIP)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Trade Gothic Next"/>
              </a:rPr>
              <a:t>The name becomes an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4805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AA8C8"/>
                </a:solidFill>
                <a:latin typeface="Trade Gothic Next"/>
              </a:rPr>
              <a:t>“Fast-Trak” means fast when it genuinely ships in 2 weeks vs. 6–8 for Fineline. Brand equity is restored. But we should still consider whether a name better aligned to the “Kold Locker Plus” positioning might outperform.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560320"/>
            <a:ext cx="5303520" cy="2926080"/>
          </a:xfrm>
          <a:prstGeom prst="rect">
            <a:avLst/>
          </a:prstGeom>
          <a:solidFill>
            <a:srgbClr val="1D2D4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606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C0392B"/>
                </a:solidFill>
                <a:latin typeface="Trade Gothic Next"/>
              </a:rPr>
              <a:t>IF SPEED IS NOT RESTORED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26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Trade Gothic Next"/>
              </a:rPr>
              <a:t>The name is a liability.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37560"/>
            <a:ext cx="4937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AA8C8"/>
                </a:solidFill>
                <a:latin typeface="Trade Gothic Next"/>
              </a:rPr>
              <a:t>“Fast-Trak” at factory lead time is a broken promise. Every time a dealer quotes it and the lead time is 6+ weeks, the name undermines our credibility. Renaming becomes essential, not optional.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B7CCC"/>
                </a:solidFill>
                <a:latin typeface="Trade Gothic Next"/>
              </a:rPr>
              <a:t>The following slides present naming options for both scenarios.</a:t>
            </a:r>
          </a:p>
        </p:txBody>
      </p:sp>
      <p:pic>
        <p:nvPicPr>
          <p:cNvPr id="14" name="Picture 13" descr="slide1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943600"/>
            <a:ext cx="2743200" cy="7123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FFFF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Naming Options: If Speed Is Restored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Three paths for a product that actually ships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3840480"/>
          </a:xfrm>
          <a:prstGeom prst="rect">
            <a:avLst/>
          </a:prstGeom>
          <a:noFill/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A: STATUS QUO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02857"/>
                </a:solidFill>
                <a:latin typeface="Teko"/>
              </a:rPr>
              <a:t>Keep
“Fast-Trak”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Name becomes honest with 2-week ship. Existing brand equity and dealer familiarity preserved. Zero transition cost. No channel confusion.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Doesn’t signal strategic change to market. “Fast-Trak” still sounds generic.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291840" cy="3840480"/>
          </a:xfrm>
          <a:prstGeom prst="rect">
            <a:avLst/>
          </a:prstGeom>
          <a:noFill/>
          <a:ln w="12700">
            <a:solidFill>
              <a:srgbClr val="2B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291840" cy="36576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B: LEVERAGE KL 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02857"/>
                </a:solidFill>
                <a:latin typeface="Teko"/>
              </a:rPr>
              <a:t>“Kold Locker
Pro”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175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Leverages KL’s strong brand equity. Instant dealer understanding: “it’s a KL with more options.” “Pro” implies upgrade. Clean family hierarchy.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634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Could cannibalize KL. Loses established “Fast-Trak” recognition. May imply KL is “non-Pro.”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828800"/>
            <a:ext cx="3291840" cy="3840480"/>
          </a:xfrm>
          <a:prstGeom prst="rect">
            <a:avLst/>
          </a:prstGeom>
          <a:noFill/>
          <a:ln w="12700">
            <a:solidFill>
              <a:srgbClr val="1A4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1828800"/>
            <a:ext cx="3291840" cy="365760"/>
          </a:xfrm>
          <a:prstGeom prst="rect">
            <a:avLst/>
          </a:prstGeom>
          <a:solidFill>
            <a:srgbClr val="1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C: HERITAGE 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31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02857"/>
                </a:solidFill>
                <a:latin typeface="Teko"/>
              </a:rPr>
              <a:t>“QuikBild”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0175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20040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Echoes Master-Bilt’s 10Bilt heritage. Communicates speed directly. Distinctive in market. Signals a return to the rapid-build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4805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6344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New name = transition cost. May not resonate if dealers don’t know 10Bilt history. Unconventional spelling.</a:t>
            </a:r>
          </a:p>
        </p:txBody>
      </p:sp>
      <p:pic>
        <p:nvPicPr>
          <p:cNvPr id="29" name="Picture 28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Naming Options: If Speed Is Not Restored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Four options that don’t make a promise we can’t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06040" cy="3840480"/>
          </a:xfrm>
          <a:prstGeom prst="rect">
            <a:avLst/>
          </a:prstGeom>
          <a:noFill/>
          <a:ln w="12700">
            <a:solidFill>
              <a:srgbClr val="2B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32004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2857"/>
                </a:solidFill>
                <a:latin typeface="Teko"/>
              </a:rPr>
              <a:t>“FlexLine”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331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Emphasizes flexibility. Rhymes with Fineline for family cohesion. No speed 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Sounds similar to Fineline — could merge in dealer minds.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606040" cy="3840480"/>
          </a:xfrm>
          <a:prstGeom prst="rect">
            <a:avLst/>
          </a:prstGeom>
          <a:noFill/>
          <a:ln w="12700">
            <a:solidFill>
              <a:srgbClr val="1A4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06040" cy="320040"/>
          </a:xfrm>
          <a:prstGeom prst="rect">
            <a:avLst/>
          </a:prstGeom>
          <a:solidFill>
            <a:srgbClr val="1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8470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2857"/>
                </a:solidFill>
                <a:latin typeface="Teko"/>
              </a:rPr>
              <a:t>“SelectLine”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83464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2331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Implies curated options. Pairs with Fineline. Professional, clean.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9768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43484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Generic. Doesn’t differentiate strongly from Fineline.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2606040" cy="3840480"/>
          </a:xfrm>
          <a:prstGeom prst="rect">
            <a:avLst/>
          </a:prstGeom>
          <a:noFill/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828800"/>
            <a:ext cx="2606040" cy="3200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8470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2402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2857"/>
                </a:solidFill>
                <a:latin typeface="Teko"/>
              </a:rPr>
              <a:t>“ProLine”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3464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971800"/>
            <a:ext cx="2331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Premium positioning. Works across all channels. No speed claim.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29768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43484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Very generic. ProLine exists in other industries. Weak differentiation.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399" y="1828800"/>
            <a:ext cx="2606040" cy="3840480"/>
          </a:xfrm>
          <a:prstGeom prst="rect">
            <a:avLst/>
          </a:prstGeom>
          <a:noFill/>
          <a:ln w="12700">
            <a:solidFill>
              <a:srgbClr val="6C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399" y="1828800"/>
            <a:ext cx="2606040" cy="32004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39" y="18470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OPTION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2240280"/>
            <a:ext cx="2331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2857"/>
                </a:solidFill>
                <a:latin typeface="Teko"/>
              </a:rPr>
              <a:t>“OptiKold”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283464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7A4A"/>
                </a:solidFill>
                <a:latin typeface="Trade Gothic Next"/>
              </a:rPr>
              <a:t>RATIONALE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2971800"/>
            <a:ext cx="2331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Distinctive. Uses Norlake’s “Kold” branding. Implies optimized solution.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4297680"/>
            <a:ext cx="23317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C0392B"/>
                </a:solidFill>
                <a:latin typeface="Trade Gothic Next"/>
              </a:rPr>
              <a:t>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443484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Unfamiliar. Requires education. May feel forced.</a:t>
            </a:r>
          </a:p>
        </p:txBody>
      </p:sp>
      <p:pic>
        <p:nvPicPr>
          <p:cNvPr id="37" name="Picture 36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Questions: The Naming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What do we need to know before choosing?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585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2311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Does the Fast-Trak name carry meaningful equity with dealers that’s worth preserving?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286000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276856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6440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3697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4612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If we rename, what is the full transition cost? (Collateral, systems, dealer re-education, ecommerce listings.)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291840"/>
            <a:ext cx="1124712" cy="182880"/>
          </a:xfrm>
          <a:prstGeom prst="rect">
            <a:avLst/>
          </a:prstGeom>
          <a:solidFill>
            <a:srgbClr val="FD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282696"/>
            <a:ext cx="103327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B03060"/>
                </a:solidFill>
                <a:latin typeface="Trade Gothic Next"/>
              </a:rPr>
              <a:t>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10515600" cy="82296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27024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24281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Would a name change signal positive strategic momentum to the market, or create confusion during transition?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297680"/>
            <a:ext cx="685800" cy="182880"/>
          </a:xfrm>
          <a:prstGeom prst="rect">
            <a:avLst/>
          </a:prstGeom>
          <a:solidFill>
            <a:srgbClr val="ED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4288536"/>
            <a:ext cx="594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1A7A4A"/>
                </a:solidFill>
                <a:latin typeface="Trade Gothic Next"/>
              </a:rPr>
              <a:t>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Trade Gothic Next"/>
              </a:rPr>
              <a:t>Decision framework: If we restore speed → keep “Fast-Trak” (lowest risk) or consider “KL Pro” (highest strategic upside). If we cannot restore speed → rename is essential. “FlexLine” or “SelectLine” are safest; “OptiKold” is boldest.</a:t>
            </a:r>
          </a:p>
        </p:txBody>
      </p:sp>
      <p:pic>
        <p:nvPicPr>
          <p:cNvPr id="25" name="Picture 24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Competitive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What the market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2C3E50"/>
                </a:solidFill>
                <a:latin typeface="Trade Gothic Next"/>
              </a:rPr>
              <a:t>KPS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874520"/>
            <a:ext cx="36576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8288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7A4A"/>
                </a:solidFill>
                <a:latin typeface="Trade Gothic Next"/>
              </a:rPr>
              <a:t>&lt;48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2C3E50"/>
                </a:solidFill>
                <a:latin typeface="Trade Gothic Next"/>
              </a:rPr>
              <a:t>ARCTIC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350008"/>
            <a:ext cx="36576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30428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7A4A"/>
                </a:solidFill>
                <a:latin typeface="Trade Gothic Next"/>
              </a:rPr>
              <a:t>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2C3E50"/>
                </a:solidFill>
                <a:latin typeface="Trade Gothic Next"/>
              </a:rPr>
              <a:t>AMERIKOOLER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825496"/>
            <a:ext cx="45720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779776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7A4A"/>
                </a:solidFill>
                <a:latin typeface="Trade Gothic Next"/>
              </a:rPr>
              <a:t>3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55264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2B7CCC"/>
                </a:solidFill>
                <a:latin typeface="Trade Gothic Next"/>
              </a:rPr>
              <a:t>KOLD LOCKER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300984"/>
            <a:ext cx="36576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255264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B7CCC"/>
                </a:solidFill>
                <a:latin typeface="Trade Gothic Next"/>
              </a:rPr>
              <a:t>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3075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C0392B"/>
                </a:solidFill>
                <a:latin typeface="Trade Gothic Next"/>
              </a:rPr>
              <a:t>FAST-TRAK (today)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776472"/>
            <a:ext cx="6400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73075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0392B"/>
                </a:solidFill>
                <a:latin typeface="Trade Gothic Next"/>
              </a:rPr>
              <a:t>4–10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A0A0A0"/>
                </a:solidFill>
                <a:latin typeface="Trade Gothic Next"/>
              </a:rPr>
              <a:t>FINELINE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251960"/>
            <a:ext cx="6400800" cy="2743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A0A0A0"/>
                </a:solidFill>
                <a:latin typeface="Trade Gothic Next"/>
              </a:rPr>
              <a:t>4–10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91032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88289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9204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What is Master-Bilt’s current Ready-Bilt lead time? Same problem, or have they solved it differently?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4937760"/>
            <a:ext cx="1828800" cy="182880"/>
          </a:xfrm>
          <a:prstGeom prst="rect">
            <a:avLst/>
          </a:prstGeom>
          <a:solidFill>
            <a:srgbClr val="F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492861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C3E50"/>
                </a:solidFill>
                <a:latin typeface="Trade Gothic Next"/>
              </a:rPr>
              <a:t>COMPETITIVE INTEL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687568"/>
            <a:ext cx="274320" cy="27432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660136"/>
            <a:ext cx="274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eko"/>
              </a:rPr>
              <a:t>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How do KPS Global, Amerikooler, and Arctic position their quick-ship vs. custom tiers, and how do they price the gap?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5715000"/>
            <a:ext cx="1828800" cy="182880"/>
          </a:xfrm>
          <a:prstGeom prst="rect">
            <a:avLst/>
          </a:prstGeom>
          <a:solidFill>
            <a:srgbClr val="F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5705856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2C3E50"/>
                </a:solidFill>
                <a:latin typeface="Trade Gothic Next"/>
              </a:rPr>
              <a:t>COMPETITIVE INTEL</a:t>
            </a:r>
          </a:p>
        </p:txBody>
      </p:sp>
      <p:pic>
        <p:nvPicPr>
          <p:cNvPr id="35" name="Picture 34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Implementation: 18-Week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Each phase answers a cluster of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320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PHASE 1: Weeks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Data &amp;
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Q5–Q14 + Q34–Q41
• Path A: Mfg assessment
• Path B: SKU count + BOMs
• Path B: Ops lead time
• Pull FT order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51760" cy="32004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7335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PHASE 2: Weeks 4–8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Boundaries &amp;
Path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Q15–Q20 + Q42–Q43
• Path A vs B decision
• Fineline boundary
• KL-to-FT triggers
• Pricing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320040"/>
          </a:xfrm>
          <a:prstGeom prst="rect">
            <a:avLst/>
          </a:prstGeom>
          <a:solidFill>
            <a:srgbClr val="1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7335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PHASE 3: Weeks 8–16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Manufacturing
&amp;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Execution
• Stage inventory
• Pre-engineer BOMs
• Production slots
• Automated order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51760" cy="32004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673352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rade Gothic Next"/>
              </a:rPr>
              <a:t>PHASE 4: Weeks 12–18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5740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Collateral &amp;
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5176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  <a:latin typeface="Trade Gothic Next"/>
              </a:rPr>
              <a:t>Answers Q25–Q31
• Resolve inconsistencies
• Reposition brochures
• Naming decision
• Train sales + dealers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03520"/>
            <a:ext cx="10607040" cy="182880"/>
          </a:xfrm>
          <a:prstGeom prst="rect">
            <a:avLst/>
          </a:prstGeom>
          <a:solidFill>
            <a:srgbClr val="F0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303520"/>
            <a:ext cx="2377440" cy="182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5303520"/>
            <a:ext cx="2377440" cy="18288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0" y="5303520"/>
            <a:ext cx="4663440" cy="182880"/>
          </a:xfrm>
          <a:prstGeom prst="rect">
            <a:avLst/>
          </a:prstGeom>
          <a:solidFill>
            <a:srgbClr val="1A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66960" y="5303520"/>
            <a:ext cx="3566160" cy="18288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2879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9999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7119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4239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5321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C3E50"/>
                </a:solidFill>
                <a:latin typeface="Trade Gothic Next"/>
              </a:rPr>
              <a:t>Wk 18</a:t>
            </a:r>
          </a:p>
        </p:txBody>
      </p:sp>
      <p:pic>
        <p:nvPicPr>
          <p:cNvPr id="32" name="Picture 31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Contingency: If Rapid Ship Isn’t Feasible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If NEITHER path achieves ~2-week FT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  <a:ln w="12700">
            <a:solidFill>
              <a:srgbClr val="2B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Trade Gothic Next"/>
              </a:rPr>
              <a:t>OPTION A: COLLAPSE TO 2 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6634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  <a:latin typeface="Trade Gothic Next"/>
              </a:rPr>
              <a:t>Kold Locker + Fineline. Retire Fast-Trak.
Create “Fineline Standard” pricing tier for 2-ft / standard-option orders at 10–12% discount vs. full custom.
Pros: Clean, simple, industry standard.
Cons: Loses FT brand. No mid-tier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029200" cy="3200400"/>
          </a:xfrm>
          <a:prstGeom prst="rect">
            <a:avLst/>
          </a:prstGeom>
          <a:noFill/>
          <a:ln w="12700">
            <a:solidFill>
              <a:srgbClr val="D47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029200" cy="411480"/>
          </a:xfrm>
          <a:prstGeom prst="rect">
            <a:avLst/>
          </a:prstGeom>
          <a:solidFill>
            <a:srgbClr val="D47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9280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Trade Gothic Next"/>
              </a:rPr>
              <a:t>OPTION B: KEEP 3 TIERS, RENAME 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6634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  <a:latin typeface="Trade Gothic Next"/>
              </a:rPr>
              <a:t>Drop “Fast” from the name. Rename to emphasize flexibility/options (e.g., FlexLine, SelectLine, OptiKold).
Reposition as “more than KL, simpler than Fineline.”
Cons: Middle tier = internal convenience, not customer value.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2857"/>
                </a:solidFill>
                <a:latin typeface="Trade Gothic Next"/>
              </a:rPr>
              <a:t>The 3-tier structure only earns its complexity if each tier delivers a distinct, tangible benefit.
Without speed, the middle tier is an internal convenience, not a customer value proposition.</a:t>
            </a:r>
          </a:p>
        </p:txBody>
      </p:sp>
      <p:pic>
        <p:nvPicPr>
          <p:cNvPr id="15" name="Picture 14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Fix Now: Collateral Inconsistencies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These are not questions — they are immediate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47088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9656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ek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Door Widths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Comparison sheet: 30” only for KL. Build Your KL flyer + website: 26”/30”/36”.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7452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ACTION: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Which is correct? Reconcile across all materials.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10515600" cy="91440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98648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71216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ek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26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Hinge 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Comparison sheet: left only. Other materials: left/right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9260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ACTION: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546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Confirm stocked set. Update comparison sheet.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50208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922776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ek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977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Refrigeration Naming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51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Website: “Split-Pak A2L.” Comparison sheet: “Split-Pak Remote.”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776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ACTION: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Standardize naming across all touchpoints.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83479"/>
            <a:ext cx="10515600" cy="914400"/>
          </a:xfrm>
          <a:prstGeom prst="rect">
            <a:avLst/>
          </a:prstGeom>
          <a:solidFill>
            <a:srgbClr val="FE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01767"/>
            <a:ext cx="3200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974335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Tek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02919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2857"/>
                </a:solidFill>
                <a:latin typeface="Trade Gothic Next"/>
              </a:rPr>
              <a:t>Feature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03519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  <a:latin typeface="Trade Gothic Next"/>
              </a:rPr>
              <a:t>Walk-Ins brochure checkmarks make FT and Fineline look identical.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029199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0392B"/>
                </a:solidFill>
                <a:latin typeface="Trade Gothic Next"/>
              </a:rPr>
              <a:t>ACTION: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257799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02857"/>
                </a:solidFill>
                <a:latin typeface="Trade Gothic Next"/>
              </a:rPr>
              <a:t>Rebuild matrix to show actual differentiation.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7900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Trade Gothic Next"/>
              </a:rPr>
              <a:t>These undermine credibility regardless of which strategic direction we choose. Fix them first.</a:t>
            </a:r>
          </a:p>
        </p:txBody>
      </p:sp>
      <p:pic>
        <p:nvPicPr>
          <p:cNvPr id="35" name="Picture 34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  <a:latin typeface="Trade Gothic Next"/>
              </a:rPr>
              <a:t>INTERNAL — CONFIDENTIAL  |  February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2857"/>
                </a:solidFill>
                <a:latin typeface="Teko"/>
              </a:rPr>
              <a:t>Question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4D7C"/>
                </a:solidFill>
                <a:latin typeface="Trade Gothic Next"/>
              </a:rPr>
              <a:t>All 43 questions at a glance — track answers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002857"/>
                </a:solidFill>
                <a:latin typeface="Trade Gothic Next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669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2857"/>
                </a:solidFill>
                <a:latin typeface="Trade Gothic Next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2857"/>
                </a:solidFill>
                <a:latin typeface="Trade Gothic Next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459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2857"/>
                </a:solidFill>
                <a:latin typeface="Trade Gothic Next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6459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02857"/>
                </a:solidFill>
                <a:latin typeface="Trade Gothic Next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9601200" cy="1270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1109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FT orders buildable as Fineline?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1109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Sales/Ops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1109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92938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022652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1350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01350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Dealer confusion FT vs Fineline?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1350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01350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03179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25064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11592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11592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Lost deals due to FT lead time?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1592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1592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13420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227476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21833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21833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Volume split KL/FT/Fineline?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21833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Finance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21833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23662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329888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32074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32074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Assembly in 10 biz days from stock?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32074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Mfg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32074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Y/N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33903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2432300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42315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242315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Filler panels for odd-ft sizes?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42315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242315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Y/N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244144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2534712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52556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252556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Plant capacity for filler panels?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52556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Mfg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252556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Y/N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54385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2637124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62798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262798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Assembly time delta KL vs FT?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62798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Mfg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262798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264626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2739536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273039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273039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Why was rapid-build abandoned?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273039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273039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274868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2841948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283280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283280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% FT orders in 2-ft increments?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283280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283280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285109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2944360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293521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293521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% FT orders using odd-ft sizes?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293521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0" y="293521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295350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3046772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303762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303762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Odd-ft price premium?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303762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0" y="303762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61120" y="305591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3149184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314004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" y="314004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Additional component inventory?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0" y="314004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Supply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314004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61120" y="315832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7200" y="3251596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324245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" y="324245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Carrying cost of inventory?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324245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Finance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63840" y="324245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61120" y="326074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7200" y="3354008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334486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7240" y="334486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Always-Fineline options?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83680" y="334486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Product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63840" y="334486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61120" y="336315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7200" y="3456420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344727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7240" y="344727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Non-rapid-shippable FT options?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0" y="344727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Mfg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0" y="344727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61120" y="346556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200" y="3558832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354968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40" y="354968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Fineline options movable to rapid?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680" y="354968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Mfg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63840" y="354968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61120" y="356797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7200" y="3661244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365210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7240" y="365210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Right FT triggers? Others?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0" y="365210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Product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63840" y="365210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61120" y="367038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57200" y="3763656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200" y="375451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Q19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375451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8'7" in KL or FT?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0" y="375451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863840" y="375451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Decision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61120" y="377280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57200" y="3866068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7200" y="385692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7240" y="385692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% KL→FT from sizing only?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83680" y="385692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63840" y="385692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61120" y="387521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7200" y="3968480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7200" y="395933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7240" y="395933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Replacement price sensitivity?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0" y="395933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63840" y="395933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61120" y="397762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7200" y="4070892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57200" y="406174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77240" y="406174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Ecommerce price elasticity?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583680" y="406174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Ecomm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63840" y="406174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961120" y="408003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57200" y="4173304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7200" y="416416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77240" y="416416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FT speed premium over Fineline?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583680" y="416416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Strategic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63840" y="416416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Decision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961120" y="418244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57200" y="4275716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7200" y="426657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7240" y="426657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Competitor pricing gaps?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583680" y="426657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Comp Intel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63840" y="426657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961120" y="428486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57200" y="4378128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7200" y="436898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77240" y="436898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WebstaurantStore appetite?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583680" y="436898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Key Acct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63840" y="436898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961120" y="438727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57200" y="4480540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57200" y="447139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77240" y="447139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FT ecommerce configs + premium?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583680" y="447139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Ecomm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63840" y="447139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961120" y="448968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57200" y="4582952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457380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77240" y="457380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Ship date = higher conversion?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583680" y="457380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Ecomm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63840" y="457380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961120" y="459209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57200" y="4685364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7200" y="467622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77240" y="467622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Traditional dealer FT/FL view?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83680" y="467622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863840" y="467622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961120" y="469450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57200" y="4787776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7200" y="477863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Q29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77240" y="477863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FT name equity with dealers?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583680" y="477863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863840" y="477863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961120" y="479692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57200" y="4890188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7200" y="488104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77240" y="488104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Rename transition cost?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583680" y="488104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Marketing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863840" y="488104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961120" y="489933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57200" y="4992600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7200" y="498345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77240" y="498345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Name change = momentum or confusion?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583680" y="498345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Sales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863840" y="498345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8961120" y="500174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57200" y="5095012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57200" y="508586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77240" y="508586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Master-Bilt Ready-Bilt lead time?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583680" y="508586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Comp Intel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863840" y="508586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961120" y="510415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57200" y="5197424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57200" y="518828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77240" y="518828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Competitor tier positioning + pricing?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583680" y="518828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Comp Intel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0" y="518828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961120" y="520656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57200" y="5299836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57200" y="529069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Q34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77240" y="529069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Total valid FT configs / SKU count?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583680" y="529069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Eng/Product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863840" y="529069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961120" y="530898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57200" y="5402248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457200" y="539310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77240" y="539310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Pre-engineer BOMs for all FT?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583680" y="539310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Engineering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863840" y="539310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Y/N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8961120" y="541139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57200" y="5504660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57200" y="549551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Q36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77240" y="549551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Avg eng/quoting time per FT order?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583680" y="549551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Operations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863840" y="549551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8961120" y="551380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57200" y="5607072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57200" y="559792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77240" y="559792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Reduce to &lt;500 SKUs w/o losing demand?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583680" y="559792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Product/Eng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863840" y="559792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961120" y="561621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57200" y="5709484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57200" y="570034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77240" y="570034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Production lead time w/ zero eng?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583680" y="570034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Ops/Mfg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863840" y="570034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8961120" y="571862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57200" y="5811896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57200" y="5802752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Q39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77240" y="5802752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Process steps that add time?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583680" y="5802752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Operations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863840" y="5802752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Input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961120" y="5821040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57200" y="5914308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57200" y="5905164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Q40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77240" y="5905164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Dedicated slots hit 2 wks reliably?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583680" y="5905164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Ops/Mfg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863840" y="5905164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Y/N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61120" y="5923452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57200" y="6016720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7200" y="6007576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Q41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77240" y="6007576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Pre-stageable components + cost?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583680" y="6007576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Supply/Fin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863840" y="6007576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Data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961120" y="6025864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57200" y="6119132"/>
            <a:ext cx="9601200" cy="10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57200" y="6109988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Q42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77240" y="6109988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Path A vs B: lower total cost?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583680" y="6109988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Finance/Ops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863840" y="6109988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Analysis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961120" y="6128276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57200" y="6221544"/>
            <a:ext cx="9601200" cy="102412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57200" y="6212400"/>
            <a:ext cx="2743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>
                <a:solidFill>
                  <a:srgbClr val="2B7CCC"/>
                </a:solidFill>
                <a:latin typeface="Trade Gothic Next"/>
              </a:rPr>
              <a:t>Q43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77240" y="6212400"/>
            <a:ext cx="566928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Hybrid feasible? A + B combo?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583680" y="6212400"/>
            <a:ext cx="118872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1A4D7C"/>
                </a:solidFill>
                <a:latin typeface="Trade Gothic Next"/>
              </a:rPr>
              <a:t>Strategic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863840" y="6212400"/>
            <a:ext cx="914400" cy="1024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2C3E50"/>
                </a:solidFill>
                <a:latin typeface="Trade Gothic Next"/>
              </a:rPr>
              <a:t>Decision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961120" y="6230688"/>
            <a:ext cx="640080" cy="84124"/>
          </a:xfrm>
          <a:prstGeom prst="rect">
            <a:avLst/>
          </a:prstGeom>
          <a:noFill/>
          <a:ln w="12700">
            <a:solidFill>
              <a:srgbClr val="8A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9" name="Picture 268" descr="slide2_Picture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5989320"/>
            <a:ext cx="2286000" cy="63002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9498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Teko"/>
              </a:rPr>
              <a:t>Answer the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2B7CCC"/>
                </a:solidFill>
                <a:latin typeface="Teko"/>
              </a:rPr>
              <a:t>Then Decide.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828800" cy="25400"/>
          </a:xfrm>
          <a:prstGeom prst="rect">
            <a:avLst/>
          </a:prstGeom>
          <a:solidFill>
            <a:srgbClr val="2B7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B7CCC"/>
                </a:solidFill>
                <a:latin typeface="Trade Gothic Next"/>
              </a:rPr>
              <a:t>IMMEDIATE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C8"/>
                </a:solidFill>
                <a:latin typeface="Trade Gothic Next"/>
              </a:rPr>
              <a:t>• Pull FT order data (Q10–Q12) — validates Path A sizing hypothesis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C8"/>
                </a:solidFill>
                <a:latin typeface="Trade Gothic Next"/>
              </a:rPr>
              <a:t>• Schedule manufacturing feasibility assessment (Q5–Q9) — Path 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C8"/>
                </a:solidFill>
                <a:latin typeface="Trade Gothic Next"/>
              </a:rPr>
              <a:t>• Enumerate FT SKU count (Q34) + BOM effort (Q35) — Path 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C8"/>
                </a:solidFill>
                <a:latin typeface="Trade Gothic Next"/>
              </a:rPr>
              <a:t>• Get Ops lead time with zero engineering (Q38) — Path B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8AA8C8"/>
                </a:solidFill>
                <a:latin typeface="Trade Gothic Next"/>
              </a:rPr>
              <a:t>• Resolve 4 collateral inconsistencies — credibility cost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7CCC"/>
                </a:solidFill>
                <a:latin typeface="Teko"/>
              </a:rPr>
              <a:t>43 Questions  →  Two Paths  →  Data + Decisions  →  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A7898"/>
                </a:solidFill>
                <a:latin typeface="Trade Gothic Next"/>
              </a:rPr>
              <a:t>INTERNAL — CONFIDENTIAL  |  February 2026  | 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